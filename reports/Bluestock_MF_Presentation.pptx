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ed082860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eed0828608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ed082860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eed0828608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ed082860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eed0828608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ed082860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eed0828608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ed082860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eed0828608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ed082860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eed0828608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Bluestock Mutual Fund Analytics</a:t>
            </a:r>
            <a:endParaRPr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Capstone Project Presentation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Objective: Analyze mutual fund performance, investor behavior, risk metrics and market trends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&amp; Objectives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Problem: Mutual fund datasets contain large volumes of NAV, transaction and performance data.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Objectives: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• Build data cleaning and ETL pipeline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• Analyze fund performance and risk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• Understand investor behavior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• Create interactive dashboard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5" title="Screenshot 2026-06-11 2103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300" y="1248950"/>
            <a:ext cx="4306000" cy="579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Architecture &amp; ETL Design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Pipeline: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Raw CSV Files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      ↓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Python Cleaning &amp; Validation Scripts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      ↓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Processed Datasets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      ↓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SQLite Analytical Database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      ↓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Power BI Dashboard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EDA Highlights - NAV &amp; SIP Trends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Analysis performed: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• Daily NAV trend analysis for mutual fund schemes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• SIP inflow trend analysis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• Market movement observation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nav_trend.png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7" title="Screenshot 2026-06-11 1358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350" y="3305075"/>
            <a:ext cx="7739300" cy="381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EDA Highlights - NAV &amp; SIP Trends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700"/>
              <a:t>sip_trend.png</a:t>
            </a:r>
            <a:endParaRPr sz="17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8" title="Screenshot 2026-06-11 1359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50" y="2187750"/>
            <a:ext cx="8229601" cy="467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EDA Highlights - Investor Analytics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Analyzed: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• Investor age distribution</a:t>
            </a:r>
            <a:endParaRPr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.</a:t>
            </a:r>
            <a:endParaRPr/>
          </a:p>
        </p:txBody>
      </p:sp>
      <p:pic>
        <p:nvPicPr>
          <p:cNvPr id="125" name="Google Shape;125;p19" title="Screenshot 2026-06-11 1406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975" y="2331900"/>
            <a:ext cx="7828049" cy="4526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EDA Highlights - Investor Analytics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457200" y="1600200"/>
            <a:ext cx="8229600" cy="54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Gender split</a:t>
            </a:r>
            <a:endParaRPr sz="3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.</a:t>
            </a:r>
            <a:endParaRPr/>
          </a:p>
        </p:txBody>
      </p:sp>
      <p:pic>
        <p:nvPicPr>
          <p:cNvPr id="132" name="Google Shape;132;p20" title="Screenshot 2026-06-11 1407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175" y="2204875"/>
            <a:ext cx="7975326" cy="483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EDA Highlights - Investor Analytics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80125" y="1417650"/>
            <a:ext cx="8229600" cy="54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State-wise investment patterns</a:t>
            </a:r>
            <a:endParaRPr sz="18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.</a:t>
            </a:r>
            <a:endParaRPr/>
          </a:p>
        </p:txBody>
      </p:sp>
      <p:pic>
        <p:nvPicPr>
          <p:cNvPr id="139" name="Google Shape;139;p21" title="Screenshot 2026-06-11 1407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26300"/>
            <a:ext cx="9144000" cy="449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EDA Highlights - Investor Analytics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457200" y="1571750"/>
            <a:ext cx="8229600" cy="54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City tier analysis</a:t>
            </a:r>
            <a:endParaRPr sz="18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.</a:t>
            </a:r>
            <a:endParaRPr/>
          </a:p>
        </p:txBody>
      </p:sp>
      <p:pic>
        <p:nvPicPr>
          <p:cNvPr id="146" name="Google Shape;146;p22" title="Screenshot 2026-06-11 2122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700" y="2091450"/>
            <a:ext cx="8649549" cy="492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 Metrics - Returns &amp; Risk</a:t>
            </a:r>
            <a:endParaRPr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</a:pPr>
            <a:r>
              <a:rPr lang="en-US" sz="800"/>
              <a:t>Computed:</a:t>
            </a:r>
            <a:endParaRPr sz="2200"/>
          </a:p>
          <a:p>
            <a:pPr indent="-2794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</a:pPr>
            <a:r>
              <a:rPr lang="en-US" sz="800"/>
              <a:t>• Daily returns</a:t>
            </a:r>
            <a:endParaRPr sz="2200"/>
          </a:p>
          <a:p>
            <a:pPr indent="-2794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</a:pPr>
            <a:r>
              <a:rPr lang="en-US" sz="800"/>
              <a:t>• CAGR (1Y/3Y/5Y)</a:t>
            </a:r>
            <a:endParaRPr sz="2200"/>
          </a:p>
          <a:p>
            <a:pPr indent="-2794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</a:pPr>
            <a:r>
              <a:rPr lang="en-US" sz="800"/>
              <a:t>• Sharpe Ratio</a:t>
            </a:r>
            <a:endParaRPr sz="2200"/>
          </a:p>
          <a:p>
            <a:pPr indent="-2794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</a:pPr>
            <a:r>
              <a:rPr lang="en-US" sz="800"/>
              <a:t>• Sortino Ratio</a:t>
            </a:r>
            <a:endParaRPr sz="2200"/>
          </a:p>
          <a:p>
            <a:pPr indent="-2794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</a:pPr>
            <a:r>
              <a:rPr lang="en-US" sz="800"/>
              <a:t>• Maximum Drawdown</a:t>
            </a:r>
            <a:endParaRPr sz="22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8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3" title="Screenshot 2026-06-11 2131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70225"/>
            <a:ext cx="9144001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BI Dashboard - Industry Overview</a:t>
            </a:r>
            <a:endParaRPr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</a:pPr>
            <a:r>
              <a:rPr lang="en-US" sz="1000"/>
              <a:t>Dashboard Page 1:</a:t>
            </a:r>
            <a:endParaRPr sz="2400"/>
          </a:p>
          <a:p>
            <a:pPr indent="-2921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</a:pPr>
            <a:r>
              <a:rPr lang="en-US" sz="1000"/>
              <a:t>• Total AUM KPI</a:t>
            </a:r>
            <a:endParaRPr sz="2400"/>
          </a:p>
          <a:p>
            <a:pPr indent="-2921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</a:pPr>
            <a:r>
              <a:rPr lang="en-US" sz="1000"/>
              <a:t>• SIP inflows KPI</a:t>
            </a:r>
            <a:endParaRPr sz="2400"/>
          </a:p>
          <a:p>
            <a:pPr indent="-2921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</a:pPr>
            <a:r>
              <a:rPr lang="en-US" sz="1000"/>
              <a:t>• Folio growth</a:t>
            </a:r>
            <a:endParaRPr sz="2400"/>
          </a:p>
          <a:p>
            <a:pPr indent="-2921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</a:pPr>
            <a:r>
              <a:rPr lang="en-US" sz="1000"/>
              <a:t>• Scheme count</a:t>
            </a:r>
            <a:endParaRPr sz="2400"/>
          </a:p>
          <a:p>
            <a:pPr indent="-2921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</a:pPr>
            <a:r>
              <a:rPr lang="en-US" sz="1000"/>
              <a:t>• AMC-wise AUM chart</a:t>
            </a:r>
            <a:endParaRPr sz="24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4" title="Screenshot 2026-06-11 1505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77600"/>
            <a:ext cx="9143999" cy="402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BI Dashboard - Fund &amp; Investor Analytics</a:t>
            </a:r>
            <a:endParaRPr/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• Fund performance comparison</a:t>
            </a:r>
            <a:endParaRPr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5" title="Screenshot 2026-06-11 1506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32025"/>
            <a:ext cx="9059624" cy="452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BI Dashboard - Fund &amp; Investor Analytics</a:t>
            </a:r>
            <a:endParaRPr/>
          </a:p>
        </p:txBody>
      </p:sp>
      <p:sp>
        <p:nvSpPr>
          <p:cNvPr id="173" name="Google Shape;173;p26"/>
          <p:cNvSpPr txBox="1"/>
          <p:nvPr>
            <p:ph idx="1" type="body"/>
          </p:nvPr>
        </p:nvSpPr>
        <p:spPr>
          <a:xfrm>
            <a:off x="91175" y="11659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• Investor transaction analysis</a:t>
            </a:r>
            <a:endParaRPr sz="18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6" title="Screenshot 2026-06-11 1506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87828"/>
            <a:ext cx="9144000" cy="4745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BI Dashboard - Fund &amp; Investor Analytics</a:t>
            </a:r>
            <a:endParaRPr/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91175" y="11659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• Sip and market trends</a:t>
            </a:r>
            <a:endParaRPr sz="18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27" title="Screenshot 2026-06-11 1506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18075"/>
            <a:ext cx="9144000" cy="493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Findings &amp; Recommendations</a:t>
            </a:r>
            <a:endParaRPr/>
          </a:p>
        </p:txBody>
      </p:sp>
      <p:sp>
        <p:nvSpPr>
          <p:cNvPr id="187" name="Google Shape;18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Key Findings: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• Risk-adjusted metrics provide better comparison than returns alone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• SIP behavior indicates long-term investor participation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• Portfolio diversification reduces concentration risk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Recommendations: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• Evaluate Sharpe, Alpha and Drawdown before investment decisions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• Maintain diversified portfolios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193" name="Google Shape;193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Bluestock Mutual Fund Analytics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Name: Shivani Sharma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https://github.com/sharmashivi19/mutual-fund-analytics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